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6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Személyre szabott növénycsomag-ajánló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emberi jóváhagyással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ügyfél megadja a szobája adottságait és a keretét; az agent a katalógusból csomagtervezetet készít; a tervezet CSAK lakberendezői jóváhagyás után jut el az ügyfélhez.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Döntéselőkészítő anyag a vezetői körnek  ·  Szponzor: e-commerce igazgató  ·  Folyamatgazda: vezető lakberendező  ·  2026.08.18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114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Milyen fájdalmat old meg — és melyiket nem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086600" y="2194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tíz fájdalomból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338328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2252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BIZTOS VÁLLALÁS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5544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Az új ügyfél elveszettnek érzi magát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Strukturált igényfelmérő és konkrét első ajánlat, munkaidőn kívül is beküldhető.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Személyre szabás csak a nagyoknak jut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Minden ügyfél a saját szobájához, keretéhez és ízléséhez igazított csomagot kap.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3611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Részben: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(munkaidőn kívüli beküldés) · 2. (ismétlődő katalógus-keresés) · 4. (az ügyfél látja, hol tart)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97280"/>
            <a:ext cx="54864" cy="3383280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225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NEM OLD MEG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6048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tíz fájdalomból: 6. (tanulás a panaszokból), 7. (szerződéskötés), 8. (sürgősség szerinti sorolás), 9. (egységes válasz minden csatornán), 10. (churn-előrejelzés).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PoC hatókörén kívül: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vesz fel rendelést, nem kezel fizetést, nem foglal készletet, nem ad szállítási státuszt, nem kezel reklamációt, nem módosítja a termékadatbázist, és nem ad növényegészségügyi szakvéleményt.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 · ügyféloldali PoC · 2026.08.18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38160" y="47594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114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csinál a rendszer — és hol áll meg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086600" y="2194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PoC folyamata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10515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225296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IGÉNYFELMÉRŐ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216" y="1481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szoba, fény, hely,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stílus, keret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1572768"/>
            <a:ext cx="182880" cy="182880"/>
          </a:xfrm>
          <a:prstGeom prst="rightArrow">
            <a:avLst/>
          </a:prstGeom>
          <a:solidFill>
            <a:srgbClr val="6B7C76"/>
          </a:solidFill>
          <a:ln/>
        </p:spPr>
      </p:sp>
      <p:sp>
        <p:nvSpPr>
          <p:cNvPr id="11" name="Shape 9"/>
          <p:cNvSpPr/>
          <p:nvPr/>
        </p:nvSpPr>
        <p:spPr>
          <a:xfrm>
            <a:off x="2642616" y="11430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143000"/>
            <a:ext cx="54864" cy="10515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1225296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ÜGY NYÍLIK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0632" y="1481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egyedi azonosító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(PB-7QK3ZA)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572768"/>
            <a:ext cx="182880" cy="182880"/>
          </a:xfrm>
          <a:prstGeom prst="rightArrow">
            <a:avLst/>
          </a:prstGeom>
          <a:solidFill>
            <a:srgbClr val="6B7C76"/>
          </a:solidFill>
          <a:ln/>
        </p:spPr>
      </p:sp>
      <p:sp>
        <p:nvSpPr>
          <p:cNvPr id="16" name="Shape 14"/>
          <p:cNvSpPr/>
          <p:nvPr/>
        </p:nvSpPr>
        <p:spPr>
          <a:xfrm>
            <a:off x="4828032" y="11430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143000"/>
            <a:ext cx="54864" cy="10515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1225296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AGENT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56048" y="1481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 katalógusra,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572768"/>
            <a:ext cx="182880" cy="182880"/>
          </a:xfrm>
          <a:prstGeom prst="rightArrow">
            <a:avLst/>
          </a:prstGeom>
          <a:solidFill>
            <a:srgbClr val="6B7C76"/>
          </a:solidFill>
          <a:ln/>
        </p:spPr>
      </p:sp>
      <p:sp>
        <p:nvSpPr>
          <p:cNvPr id="21" name="Shape 19"/>
          <p:cNvSpPr/>
          <p:nvPr/>
        </p:nvSpPr>
        <p:spPr>
          <a:xfrm>
            <a:off x="7013448" y="11430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13448" y="1143000"/>
            <a:ext cx="54864" cy="10515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1225296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TERVEZET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41464" y="1481328"/>
            <a:ext cx="17465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csomag, összár,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indoklás, warningok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423160"/>
            <a:ext cx="4059936" cy="1234440"/>
          </a:xfrm>
          <a:prstGeom prst="roundRect">
            <a:avLst>
              <a:gd name="adj" fmla="val 4444"/>
            </a:avLst>
          </a:prstGeom>
          <a:solidFill>
            <a:srgbClr val="FFF3E8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423160"/>
            <a:ext cx="54864" cy="1234440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EMBERI KAPU  (kötelező)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279806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lakberendező látja az eredeti kérést, a generált SQL-t, a csomagot, az összárat, az indoklást és a figyelmeztetéseket. Jóváhagy, visszaküld módosításra vagy elutasít.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423160"/>
            <a:ext cx="395020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36592" y="2423160"/>
            <a:ext cx="54864" cy="123444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5237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AZ ÜGYFÉL LÁTJA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279806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ajánlat kizárólag jóváhagyás után jelenik meg a státuszoldalon. Jóváhagyás nélkül a végpont nem is küldi ki — ezt automata tesztek őrzik.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3895344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a rendszer bizonytalan → nem talál ki ajánlatot, hanem embert hív.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Hiányzó adat · nincs megfelelő növény · a keret nem tartható · ellentmondó igény · megbízhatatlan SQL · rendelés, reklamáció vagy jogi ügy → eszkalációs okkal a lakberendező elé.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 · ügyféloldali PoC · 2026.08.18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138160" y="47594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114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Adattérkép — egy ügyfélkérés útja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086600" y="2194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kötelező dia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71600"/>
                <a:gridCol w="3566160"/>
                <a:gridCol w="1691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 KELETKEZIK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HOVA MEGY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MEDDIG ŐRIZZÜK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Név, e-mail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ügyfél böngészője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saját szerver → data/cases.json (helyben marad)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MODELLHEZ SOHA NEM MEGY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 lezárásáig, majd törlendő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Szoba, fény, hely,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stílus, keret, elvárás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ügyfél böngészője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saját szerver → Anthropic API (api.anthropic.com, USA-beli feldolgozás)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helyi ügytár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ügytárban: ügy lezárásáig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Generált SQL és 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katalógus-találatok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modell / Postgres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 read-only (helyi) → vissza a modellhez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(nyilvános termékadat)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ügytár + trace-napló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Ajánlat, indoklás,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bizonytalanság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modell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helyi ügytár → jóváhagyás után az ügyfél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 lezárásáig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Trace-napló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(prompt, SQL, tokenszám)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saját szerver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logs/*.json és logs/agent.log — nem hagyja el a gépet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fejlesztői napló, rotálandó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6110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soha nem küldünk ki: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ügyfélnév, e-mail-cím, adatbázis-hitelesítő adat, teljes katalógus-export.   ·   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Beépítendő: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trace ma nem köti a tokenköltséget az ügyazonosítóhoz — ehhez a caseId-t a naplóba kell írni.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 · ügyféloldali PoC · 2026.08.18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138160" y="47594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114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Mérési terv — honnan tudjuk, hogy működik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086600" y="2194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kötelező dia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14884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MÉRÜNK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HONNAN LESZ ADAT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HOGYAN RIPORTÁLJUK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Ajánlattervezet elkészítési ideje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ügytár: createdAt → draftReadyAt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(ma is naplózza)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heti automatikus összesítő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folyamatgazda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Jóváhagyásig eltelt idő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ügytár: createdAt → reviewedAt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heti összesítő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folyamatgazda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Emberi módosítás nélkül jóváhagyott arány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ügytár: reviewerModified jelző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havi egy dia a vezetői riportban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szponzor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Eszkalációs arány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ügytár: escalationReason kitöltve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havi egy dia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szponzor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15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Hibás SQL-lekérdezések aránya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tool-napló: sqlErrorCount / sqlAttemptCount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heti összesítő + riasztás 10% felett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fejlesztés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Költségkereten belüli ajánlatok aránya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ügytár: összár vs. megadott keret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havi egy dia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szponzor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a hat metrika ma is naplózódik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GET /api/review/metrics végpont adja őket, nem kell hozzá új fejlesztés. Vastagon: a use case ígéretét, illetve az agent hibáját mérő metrikák. A részletes tábla a repóban.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 · ügyféloldali PoC · 2026.08.18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138160" y="47594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114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terv — pilot, döntési pont, gazda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086600" y="2194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kötelező dia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14884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2026.09.01 – 10.27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ügyfél, kb. 15 szoba/hó, egy lakberendező heti 2 órája. Az első két hét kötelező baseline-mérés.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97280"/>
            <a:ext cx="54864" cy="2148840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DÖNTÉSI PONT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481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2026.09.28 (4. hét)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Feltétel: a jóváhagyáshoz szükséges idő ≤ 5 perc/szoba ÉS az emberi javítási arány ≤ 30% ÉS nincs jóváhagyás nélkül kiment ajánlat.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97280"/>
            <a:ext cx="54864" cy="214884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TELJES BEVEZETÉS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481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2026.11.15-től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Minden beérkező ügyfélkérés a webes bejáraton. Az emberi kapu bevezetés után is marad.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54864" cy="1051560"/>
          </a:xfrm>
          <a:prstGeom prst="rect">
            <a:avLst/>
          </a:prstGeom>
          <a:solidFill>
            <a:srgbClr val="2C4A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295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RENDSZER GAZDÁJA A GO-LIVE UTÁN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85616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Üzleti gazda: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csapat (folyamatgazda: vezető lakberendező) — ő nézi a heti összesítőt és dönt a promptok/szabályok finomhangolásáról. 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Technikai gazda: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 — SQL-hibaarány, modellköltség, rendelkezésre állás. Havi közös átnézés.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 · ügyféloldali PoC · 2026.08.18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138160" y="47594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114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Mennyibe kerül, mit hoz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086600" y="2194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forrásmegjelöléssel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703320" cy="2103120"/>
          </a:xfrm>
          <a:prstGeom prst="roundRect">
            <a:avLst>
              <a:gd name="adj" fmla="val 2609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210312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070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 M Ft / év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17739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kapacitás-megtakarítás  ·  BECSÜLT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szoba/hó × 7,5 megtakarított perc × 8 000 Ft/óra × 12 hó.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 a BRS 10–15 perces becslésének középértéke: 12,5 perc → legfeljebb 5 perc szobánként.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Megtérülés a lenti költségekkel: kb. 20 hónap.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051560"/>
          <a:ext cx="4343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6868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TÉTEL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EGYSZERI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Fejlesztés (PoC, workflow, naplózás)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 e 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Integráció, adat, jogosultság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e 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Betanítás, párhuzamos üzem (8 hét)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e 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 és modellhasználat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 e 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Üzemeltetés és támogatás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 e 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ÖSSZESEN (felső becslés)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1 300 e 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 e 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29184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291840"/>
            <a:ext cx="54864" cy="1325880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383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A PoC MA MÁR IGAZOL  ·  MÉRT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0080" y="36393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folyamat végigmegy: űrlap → tervezet → emberi döntés → ügyfélnézet (78 teszt zöld).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Jóváhagyás nélkül nem megy ki ajánlat.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Név és e-mail nem jut el a modellhez.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63440" y="329184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2F6F4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3291840"/>
            <a:ext cx="54864" cy="1325880"/>
          </a:xfrm>
          <a:prstGeom prst="rect">
            <a:avLst/>
          </a:prstGeom>
          <a:solidFill>
            <a:srgbClr val="2C4A40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383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 MÉG BECSLÉS  ·  A PILOTON MÉRENDŐ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46320" y="36393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12,5 perces baseline és a 15 szoba/hó: BRS-becslés.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emberi javítási arányra ma nincs adatunk.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modellköltség ökölszám, adopcióval nő.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 · ügyféloldali PoC · 2026.08.18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138160" y="47594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114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Kockázat, kontroll — és mit kérünk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086600" y="21945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E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döntés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65836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Legnagyobb kockázat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1143000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megfelelő vagy már nem elérhető növény kerül az ajánlatba.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47088"/>
            <a:ext cx="54864" cy="65836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92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1892808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Minden ajánlatot ember hagy jóvá. Determinisztikus ellenőrzés: keret, készlet, üres csomag, alacsony biztonság → eszkaláció.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96896"/>
            <a:ext cx="54864" cy="65836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4261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Visszavehetőség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642616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webes bejárat percek alatt kikapcsolható, a kézi folyamat érintetlen. Egy téves ajánlat visszavonása: az ügy újranyitása, az ügyfélnek nem ment ki ígéret.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E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46704"/>
            <a:ext cx="54864" cy="658368"/>
          </a:xfrm>
          <a:prstGeom prst="rect">
            <a:avLst/>
          </a:prstGeom>
          <a:solidFill>
            <a:srgbClr val="C158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924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5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 és hozzáférés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3392424"/>
            <a:ext cx="5989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modell csak szobajellemzőket kap. A katalógus read-only, három rétegben védve — az agent nem tud írni.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09651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40695B"/>
          </a:solidFill>
          <a:ln w="1270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422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kérésünk: 1,3 M Ft egyszeri keret és heti 2 óra lakberendezői idő egy 8 hetes, 5 ügyféles pilotra — döntési ponttal a 4. héten.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Plantbase · ügyféloldali PoC · 2026.08.18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38160" y="47594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Plantbase — ügyféloldali növénycsomag-ajánló</dc:title>
  <dc:subject>PptxGenJS Presentation</dc:subject>
  <dc:creator>Truszek Attila</dc:creator>
  <cp:lastModifiedBy>Truszek Attila</cp:lastModifiedBy>
  <cp:revision>1</cp:revision>
  <dcterms:created xsi:type="dcterms:W3CDTF">2026-08-18T14:36:19Z</dcterms:created>
  <dcterms:modified xsi:type="dcterms:W3CDTF">2026-08-18T14:36:19Z</dcterms:modified>
</cp:coreProperties>
</file>